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03" r:id="rId2"/>
    <p:sldId id="774" r:id="rId3"/>
    <p:sldId id="775" r:id="rId4"/>
    <p:sldId id="776" r:id="rId5"/>
    <p:sldId id="777" r:id="rId6"/>
    <p:sldId id="778" r:id="rId7"/>
    <p:sldId id="77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4FB54-5069-4C72-BE0C-99F5570159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60410-2FEC-4A8A-9A55-A368FBECD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62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E1ED-BF07-A1D3-9A02-C7D810A2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1BAAD4-C78C-20EA-BACD-404FA05C3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FD6CF-98A4-04CF-4376-B7A8167233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49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7D63-0BE4-83C9-55B5-A023A7FE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861984-13C2-D150-0B66-965F73780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1DA55-A5D8-6020-A901-DCE47A04B28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26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F017-4772-BFAC-CF51-8AB74B07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FE16A3-2A5B-0885-E2F4-6C18090E6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8A370-A02C-5749-1839-B962B8D4D91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707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F5C3-3A4D-E2E1-C010-A0DCE096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E1C035-F1C4-A3E0-3472-EBA497A69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60E77-8BC6-0249-51B3-E25E54E88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33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DBB5-BAF1-4C5C-4329-A38528C8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607D6-B4E0-30B6-20A8-3B1035F7D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A67CC-DA18-60F8-E195-481CADF54EA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6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DBF46-A46B-069A-227D-57747FB42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BEB202-A7C9-9523-7B75-DE363E4E1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AB2D3-C828-E721-FF31-B046BE39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B3DBD-DD7B-BB04-FCF9-BCDC4F1C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F676A-054D-E0EE-0EB3-8C867D1F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2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13894-2025-D0CC-46ED-2DB7D7E5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D9168D-4D3F-2445-E07F-D50E345F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BA420-DD57-DB94-1687-DA370A3C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66F18-CFCE-B151-B828-1D970516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8ECC3-88A1-AD86-DA7A-F5FE5CD4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11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7A5BC-07DA-85C7-CBF6-D2AFDBF8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F3358B-61EA-38BE-7904-6D073CEEA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D58FD-F8E1-FADB-0C5D-7045BE4A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31AC6-A916-859E-7BD6-3F4DF24E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53D57-221B-4F30-BA3A-E3221AAB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0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D52A-EEFA-82AD-1F99-4C824D56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D96C4-3674-080C-AB75-DADF35F0E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213B57-63A9-9E04-E9B2-4BE9FCAB1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101AF1-35F2-9ECD-5547-E38D2766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3EB8C3-F512-759D-FA34-63CF3921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DBC04-408F-E167-2408-3A985A1B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6E4ED-D6EA-3BC5-8B9A-E532E6A9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531187-7429-E49C-0B19-A788D0980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9B65C-D302-0741-DF4F-1A4B60DAF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BA28A4-85F3-7FD2-2C86-C281ACEA9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A9A68A-3391-B6EB-535C-9856C5396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5E492D-A14F-0548-DA38-57EF54D0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C0229D-9833-75D3-F8F1-AE13E87F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775CD2-A6CD-D159-3815-67173498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36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B17A0-D9B5-4D7A-2C92-693707F5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484D3-DCE7-8AA7-1D2A-71A56B00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CB8EC6-73D5-49A8-3A20-64FCA07E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A12861-92FE-3EE0-C74C-09479C02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8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98E83C-9545-BBF1-DF04-9798DE1D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1FDE20-B0FF-B241-A4CF-B7719A35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9D0EC1-95D4-6471-F425-884F0701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2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82C90-B3AB-DD4F-DBF2-0D0EC4FA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218E5-BDEF-3C4E-1CF2-1E7D95072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61A68E-6064-044A-A40B-E390EAD8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25003A-FF66-CE61-2EA7-A1873538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F9414F-1D78-84DC-DA3B-52F9A9E7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DBEE7-B3B5-B243-352B-66D1943A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04864-0ECA-1402-FF7B-14E0AAFA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DAACEA-0226-FCC4-823B-090E2A0B0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04B5CC-B10F-B47E-B346-BD078D897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251EFC-83F9-7A17-C2DD-ADDCE1CC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DA2E60-EE87-5241-A0B2-DB434AB2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1C2075-1AF4-D100-AF4B-A1C1B751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6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F867-4ECF-83B9-5022-1B180BD8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5BEF94-79A3-9B11-71D4-0A7ED211F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FE30D-7E15-5B97-016A-C36B118F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23D2E-0C2B-96E1-F6AB-0D364A25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4616EF-BDA7-9C37-EB35-C46C3C50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89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36AA82-26C3-9F74-837C-86D775B023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361276-D396-A1FA-20C8-11A7622C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B43828-63EB-148E-4123-EF197301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1F771-DE41-707F-2FAC-89D574BA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0B876-CAE2-DE5C-21CA-ADB43A0E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40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B21765-2E02-0F72-D1E5-659F6426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A690EB-07C7-A3E9-0779-ACEB118EE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54CAD-7DA4-40BE-5650-4FB0798C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334AD-8A29-126B-4FAF-469AC095A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CF4CA-93E4-C206-B941-75C91C233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12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 3"/>
          <p:cNvGrpSpPr/>
          <p:nvPr/>
        </p:nvGrpSpPr>
        <p:grpSpPr bwMode="auto">
          <a:xfrm>
            <a:off x="0" y="2873377"/>
            <a:ext cx="12212638" cy="1468755"/>
            <a:chOff x="-21102" y="2847433"/>
            <a:chExt cx="12213102" cy="1468026"/>
          </a:xfrm>
        </p:grpSpPr>
        <p:sp>
          <p:nvSpPr>
            <p:cNvPr id="51" name="矩形 50"/>
            <p:cNvSpPr/>
            <p:nvPr/>
          </p:nvSpPr>
          <p:spPr>
            <a:xfrm flipH="1">
              <a:off x="-463" y="2872820"/>
              <a:ext cx="12192463" cy="125191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691" y="2847433"/>
              <a:ext cx="1273223" cy="1291584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73411" y="3077824"/>
              <a:ext cx="10818271" cy="1237635"/>
            </a:xfrm>
            <a:prstGeom prst="rect">
              <a:avLst/>
            </a:prstGeom>
            <a:noFill/>
          </p:spPr>
          <p:txBody>
            <a:bodyPr wrap="square" lIns="91438" tIns="45719" rIns="91438" bIns="45719">
              <a:noAutofit/>
            </a:bodyPr>
            <a:lstStyle/>
            <a:p>
              <a:pPr algn="ctr">
                <a:defRPr/>
              </a:pPr>
              <a:r>
                <a:rPr lang="en-US" altLang="zh-CN" sz="4800" b="1" spc="600" dirty="0">
                  <a:latin typeface="微软雅黑" panose="020B0503020204020204" charset="-122"/>
                  <a:ea typeface="微软雅黑" panose="020B0503020204020204" charset="-122"/>
                </a:rPr>
                <a:t>Frodo/</a:t>
              </a:r>
              <a:r>
                <a:rPr lang="en-US" altLang="zh-CN" sz="4800" b="1" spc="600" dirty="0" err="1">
                  <a:latin typeface="微软雅黑" panose="020B0503020204020204" charset="-122"/>
                  <a:ea typeface="微软雅黑" panose="020B0503020204020204" charset="-122"/>
                </a:rPr>
                <a:t>Scloud</a:t>
              </a:r>
              <a:r>
                <a:rPr lang="zh-CN" altLang="en-US" sz="4800" b="1" spc="600" dirty="0">
                  <a:latin typeface="微软雅黑" panose="020B0503020204020204" charset="-122"/>
                  <a:ea typeface="微软雅黑" panose="020B0503020204020204" charset="-122"/>
                </a:rPr>
                <a:t>重构</a:t>
              </a:r>
            </a:p>
          </p:txBody>
        </p:sp>
        <p:grpSp>
          <p:nvGrpSpPr>
            <p:cNvPr id="4102" name="组 2"/>
            <p:cNvGrpSpPr/>
            <p:nvPr/>
          </p:nvGrpSpPr>
          <p:grpSpPr bwMode="auto"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103" y="3643898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104" y="390888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104" y="312187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897" y="3387645"/>
                <a:ext cx="228487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103" y="2850542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理论分析</a:t>
            </a: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5D0388B-70FD-7939-98EE-7BC7D2ACA697}"/>
              </a:ext>
            </a:extLst>
          </p:cNvPr>
          <p:cNvSpPr txBox="1"/>
          <p:nvPr/>
        </p:nvSpPr>
        <p:spPr>
          <a:xfrm>
            <a:off x="235742" y="1207442"/>
            <a:ext cx="11346658" cy="21530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直接复用即可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Encode/Decode: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几乎无复用可能，需要单独设计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MMU: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操作是类似的但是存在一些问题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的有效位是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5bit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仅有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2bit(-1,0,1),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相同的计算单元对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会有资源上的浪费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Scloud-256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mbar=12,nbar=11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这样的不和谐维度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考虑到由于生成公共矩阵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的速度是一致的，因此在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上的计算资源的浪费一定程度上是不可避免的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理想设计：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计算速度比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快一点，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计算速度比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慢一点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考虑到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1/2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的稀疏度，且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也有一定程度的稀疏性，能否利用上？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E411-A74F-71BD-4E91-869B11FD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65DB7FA6-6F51-AAFC-E3FC-ED9E7CA17F92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C098BF60-2D8A-2622-5CB6-CC76D4A40346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位切片矩阵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5E615114-2FB3-E614-EF6E-E05298EE963A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F36AEF12-6B68-A653-767D-7F71170C178E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D3F8F7D6-B0EE-CBCC-76AE-CB7BA5A556DD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524ABB77-D7AC-2FB3-C2BA-B2F150A5DF51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AD199A68-012C-DE5D-4A42-B4513607BCC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FCCE2DEE-18FE-AE49-B268-508F34ECAE3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0ADD94D8-F2B4-81D5-695E-A5FCD81C0AB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169AA780-F759-A52F-8F83-C5F41BBB243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50A6DAF4-3D21-7320-65B8-1EF43091DA0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BEB1A945-5E45-94BB-D086-9D83C00609D4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34B3BA57-13A2-CBFD-6F75-2C262FDC3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0A6C6BB4-6914-3889-D186-44EFDC52BE00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60B1CB6-C84A-73C7-BE48-BCA21D48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096" y="739775"/>
            <a:ext cx="5770417" cy="282487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2A28AC8-61B0-9126-79B7-3C0D0790D80D}"/>
              </a:ext>
            </a:extLst>
          </p:cNvPr>
          <p:cNvSpPr txBox="1"/>
          <p:nvPr/>
        </p:nvSpPr>
        <p:spPr>
          <a:xfrm>
            <a:off x="7788729" y="3564653"/>
            <a:ext cx="2347150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位切片矩阵示意图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(ISCA2025)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B7BD8F-1A0B-E482-8B6A-2B8BBE610DD4}"/>
              </a:ext>
            </a:extLst>
          </p:cNvPr>
          <p:cNvSpPr txBox="1"/>
          <p:nvPr/>
        </p:nvSpPr>
        <p:spPr>
          <a:xfrm>
            <a:off x="-327676" y="923348"/>
            <a:ext cx="588724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位切片矩阵：将原矩阵每个元素的对应位提取出来组成一个新的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0-1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二元矩阵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A45AC-8009-A6E7-C9AD-C5B88757F5E9}"/>
              </a:ext>
            </a:extLst>
          </p:cNvPr>
          <p:cNvSpPr txBox="1"/>
          <p:nvPr/>
        </p:nvSpPr>
        <p:spPr>
          <a:xfrm>
            <a:off x="-327676" y="1800041"/>
            <a:ext cx="628541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位宽的不想到转化为了计算负载的不相等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天然适应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Scloud-256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存在的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12*11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这样的特殊的维度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能够在一定程度上利用到稀疏性（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0000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可直接不计算）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8E166D9-51AC-A83B-1459-01960E752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03" y="4026933"/>
            <a:ext cx="5893982" cy="243173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451B280-8CD4-4B24-F39A-5406BF006A07}"/>
              </a:ext>
            </a:extLst>
          </p:cNvPr>
          <p:cNvSpPr txBox="1"/>
          <p:nvPr/>
        </p:nvSpPr>
        <p:spPr>
          <a:xfrm>
            <a:off x="-327676" y="4152086"/>
            <a:ext cx="628541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本质是对矩阵乘法在位级别的求和顺序进一步进行了一个重组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公式中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kbit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的，这里为了便于理解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是正数的补码，如果是负数，只需符号位的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2^n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前面是负号即可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151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C6B8-941D-A90E-4B0D-679C760F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027D2286-5FBE-0566-4CA4-4C8514591B06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A98C4870-7BA5-C88E-9185-DC9C3FCF389A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C0726D8F-9DD4-7991-F1BE-3C868BA3B0F1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F9DCD232-384C-1455-FD01-2A2001EB8F3A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ED21F658-914F-E02F-385E-32A008D6DC07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7FB7CE4B-85B4-56A3-3831-24ED372E1296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FE210268-0C82-8D42-D5C2-3F135C45325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4CE20367-EDCE-08D6-AD7C-9E72E3580C8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F5131A6B-33BA-8959-E343-25B053752B7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A7079961-3B74-A85A-A65B-9CA2983220F8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AE2B9734-2EBC-05D3-E310-2BC5B5BDB42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0CBB3BD2-12B0-C18A-135B-21D27C54E77F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2DDDA1AB-3529-8137-6AC1-6BE6EA5DC1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A9EF1CBC-DDE6-FDBC-EB26-F5D58FDD7BF6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33A6C550-3370-48B3-B3C5-E9D5A18F2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909" y="798195"/>
            <a:ext cx="2083933" cy="192956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DDDB126-D9C3-E657-9759-2BFBA79507D7}"/>
              </a:ext>
            </a:extLst>
          </p:cNvPr>
          <p:cNvSpPr txBox="1"/>
          <p:nvPr/>
        </p:nvSpPr>
        <p:spPr>
          <a:xfrm>
            <a:off x="9280725" y="2578913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EC68B0-7DEF-01C7-6448-51EA6BD29679}"/>
              </a:ext>
            </a:extLst>
          </p:cNvPr>
          <p:cNvSpPr txBox="1"/>
          <p:nvPr/>
        </p:nvSpPr>
        <p:spPr>
          <a:xfrm>
            <a:off x="9102448" y="2740022"/>
            <a:ext cx="2028851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的每一位使能对应的选择器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1D24C6-053B-EDA0-7AAA-29398FBEA48E}"/>
              </a:ext>
            </a:extLst>
          </p:cNvPr>
          <p:cNvSpPr txBox="1"/>
          <p:nvPr/>
        </p:nvSpPr>
        <p:spPr>
          <a:xfrm>
            <a:off x="-393664" y="939219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右图是一个基本计算单元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的结构，以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A*S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为例，在一轮计算中，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加载一行的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个数进来，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的每一位源于一列的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个数，使能选择器即可。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的维度是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n*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nbar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的，因此对于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可以算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1*5(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每一列可以分成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)*8(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)=40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可以算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1*2*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nbar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主要在后续的累加过程中，需要根据对应的位级别移位后进行计算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A1B392-4422-B60E-A0B0-51758F59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912" y="1564876"/>
            <a:ext cx="433410" cy="45890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DAA4192-7EEB-2DD2-A49B-8263B6FDA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32" y="3996136"/>
            <a:ext cx="4266604" cy="206366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FB4127F-18CC-7489-8B20-CCCED9164D25}"/>
              </a:ext>
            </a:extLst>
          </p:cNvPr>
          <p:cNvSpPr txBox="1"/>
          <p:nvPr/>
        </p:nvSpPr>
        <p:spPr>
          <a:xfrm>
            <a:off x="9280725" y="6111332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963E5B-075C-4BE1-86C3-A4269DA2C0F0}"/>
              </a:ext>
            </a:extLst>
          </p:cNvPr>
          <p:cNvSpPr txBox="1"/>
          <p:nvPr/>
        </p:nvSpPr>
        <p:spPr>
          <a:xfrm>
            <a:off x="-393664" y="3292154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组成，它们可以共用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需要由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组成，计算不同行的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A(Hash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整个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构成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参考高性能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的结果，并行度应当不低于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6053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94AB-9BDC-A33E-4A86-28EB68D0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24965F05-26A2-D1FD-80EF-17D0EF2DE41D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10AFFD45-F299-8542-2C2F-EF2916CF31A6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0EC4A62C-996B-A050-F82F-F2AC89D8A71D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3A8DA8AC-6946-4C1F-39D5-85295C619B4A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ED16E52C-D77D-CD33-842F-65CEC61FFE0F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98793848-38F2-4161-D5E2-31584B72F7E8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59742FC2-8DAE-E909-5309-4A9D41266B5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E7EA3BB4-A259-88A3-5F9F-7B47DFFA170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E02ADD31-BF1C-59FC-EFA8-4AF9DBAAC13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432BE185-BED4-79DA-6EF1-ABBBD13F774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6FE9E7AE-E20E-4304-B3DA-D5E924B046A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11F5BA47-DBFB-A7F7-622B-0AC3B3587C10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ABC2B1D8-AD11-A491-B094-6E45DFA327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2816C0A1-EE0C-6222-9548-9CEF119FE813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7384989F-5389-EF0E-5F00-F1363C1D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995" y="785935"/>
            <a:ext cx="4266604" cy="206366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02D3359-0458-DFEA-CC85-1B02AB919422}"/>
              </a:ext>
            </a:extLst>
          </p:cNvPr>
          <p:cNvSpPr txBox="1"/>
          <p:nvPr/>
        </p:nvSpPr>
        <p:spPr>
          <a:xfrm>
            <a:off x="9186457" y="2807690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6CE6B3-DA92-74A1-4ACF-28C51F98D4F1}"/>
              </a:ext>
            </a:extLst>
          </p:cNvPr>
          <p:cNvSpPr txBox="1"/>
          <p:nvPr/>
        </p:nvSpPr>
        <p:spPr>
          <a:xfrm>
            <a:off x="-291371" y="785935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组成，它们可以共用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需要由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组成，计算不同行的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A(Hash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整个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构成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参考高性能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的结果，并行度应当不低于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5DFA7F-CCA7-7AA1-48A3-79776D91A04C}"/>
              </a:ext>
            </a:extLst>
          </p:cNvPr>
          <p:cNvSpPr txBox="1"/>
          <p:nvPr/>
        </p:nvSpPr>
        <p:spPr>
          <a:xfrm>
            <a:off x="-291372" y="2526531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构型一：取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T=5,n=2(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此时对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并行度为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，对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无需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Slice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结果可被直接消耗，累加逻辑简单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时有空闲单元，且无法利用到稀疏性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0A33-A5AA-79A6-6D80-C69103D5D12F}"/>
              </a:ext>
            </a:extLst>
          </p:cNvPr>
          <p:cNvSpPr txBox="1"/>
          <p:nvPr/>
        </p:nvSpPr>
        <p:spPr>
          <a:xfrm>
            <a:off x="-291373" y="3724846"/>
            <a:ext cx="9934994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构型二：取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T=2,n=4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能够一定程度利用稀疏性，但是在调度上较为复杂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T&gt;2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的情况在累加的调度上会相当复杂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4CFF71-4897-1C1F-D17F-DE93CD0A430B}"/>
              </a:ext>
            </a:extLst>
          </p:cNvPr>
          <p:cNvSpPr txBox="1"/>
          <p:nvPr/>
        </p:nvSpPr>
        <p:spPr>
          <a:xfrm>
            <a:off x="-291373" y="4871359"/>
            <a:ext cx="9934994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构型三：取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T=1,n=8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能够重复利用稀疏性，且在累加端的调度更为简易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相较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slice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的共用度不足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53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E855-83B5-24DD-BBB9-F6CE49F7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0129B5BF-A9C3-359D-664F-3BC57FE93B0A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E848C52-15D4-1F40-3CB0-59BE7BDD3A04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1895F13A-ADA9-6779-29D1-531EBE98E721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D930EB71-01AA-A44D-519D-5CD24226F2AD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7534562A-7DB1-BD33-1105-2EE1303362B9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F2B5E40C-036A-0FD3-EEE7-6FE092C2A06A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2C928548-8A15-1A6F-8194-205E78D6B7F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52CDCC15-6BA8-35B7-54A4-32B82B513DCA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AD6C1F37-12E9-0A12-D42D-EC7D38CBF5F3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820EA6BD-BCF6-4D62-2ABA-C82C14AB8E4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98E1C32E-4E85-960F-CB93-F9F1AD3C064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577DBC2B-922E-CF5F-986C-087B22E9EC08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35F3569C-FC70-FFA5-30A4-D18DCF4DE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8CD2617C-1E17-AF96-C84B-9E476FBBCF8D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AA82760-A0C8-1739-0CFA-2F6099ED1521}"/>
              </a:ext>
            </a:extLst>
          </p:cNvPr>
          <p:cNvSpPr txBox="1"/>
          <p:nvPr/>
        </p:nvSpPr>
        <p:spPr>
          <a:xfrm>
            <a:off x="-285537" y="757965"/>
            <a:ext cx="11522288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n_lanes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时的稀疏加速效果非常不明显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n_lanes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由于一轮计算持续的时间更久因此流水带来的延迟最不明显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由于实际流水线的深度可能更深，因此表中的数据偏小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表中只考虑了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slice,buffer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计算这样的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级流水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之后需要根据开销情况进行选择，并考虑能否进一步增大并行度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BE8AAED-E405-FD48-1805-48FFB97DD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56982"/>
              </p:ext>
            </p:extLst>
          </p:nvPr>
        </p:nvGraphicFramePr>
        <p:xfrm>
          <a:off x="235743" y="2454606"/>
          <a:ext cx="8832850" cy="2059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821">
                  <a:extLst>
                    <a:ext uri="{9D8B030D-6E8A-4147-A177-3AD203B41FA5}">
                      <a16:colId xmlns:a16="http://schemas.microsoft.com/office/drawing/2014/main" val="505207327"/>
                    </a:ext>
                  </a:extLst>
                </a:gridCol>
                <a:gridCol w="1119158">
                  <a:extLst>
                    <a:ext uri="{9D8B030D-6E8A-4147-A177-3AD203B41FA5}">
                      <a16:colId xmlns:a16="http://schemas.microsoft.com/office/drawing/2014/main" val="3380753085"/>
                    </a:ext>
                  </a:extLst>
                </a:gridCol>
                <a:gridCol w="1136867">
                  <a:extLst>
                    <a:ext uri="{9D8B030D-6E8A-4147-A177-3AD203B41FA5}">
                      <a16:colId xmlns:a16="http://schemas.microsoft.com/office/drawing/2014/main" val="183929085"/>
                    </a:ext>
                  </a:extLst>
                </a:gridCol>
                <a:gridCol w="1260824">
                  <a:extLst>
                    <a:ext uri="{9D8B030D-6E8A-4147-A177-3AD203B41FA5}">
                      <a16:colId xmlns:a16="http://schemas.microsoft.com/office/drawing/2014/main" val="2440157359"/>
                    </a:ext>
                  </a:extLst>
                </a:gridCol>
                <a:gridCol w="1204157">
                  <a:extLst>
                    <a:ext uri="{9D8B030D-6E8A-4147-A177-3AD203B41FA5}">
                      <a16:colId xmlns:a16="http://schemas.microsoft.com/office/drawing/2014/main" val="1555153671"/>
                    </a:ext>
                  </a:extLst>
                </a:gridCol>
                <a:gridCol w="1136867">
                  <a:extLst>
                    <a:ext uri="{9D8B030D-6E8A-4147-A177-3AD203B41FA5}">
                      <a16:colId xmlns:a16="http://schemas.microsoft.com/office/drawing/2014/main" val="304335101"/>
                    </a:ext>
                  </a:extLst>
                </a:gridCol>
                <a:gridCol w="1374156">
                  <a:extLst>
                    <a:ext uri="{9D8B030D-6E8A-4147-A177-3AD203B41FA5}">
                      <a16:colId xmlns:a16="http://schemas.microsoft.com/office/drawing/2014/main" val="604684091"/>
                    </a:ext>
                  </a:extLst>
                </a:gridCol>
              </a:tblGrid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Frodo-640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Frodo-976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Frodo-1344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Scloud-128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Scloud-192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Scloud-256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886601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790.28(-5.92%)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1202.98(-7.61%)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1582.18(-10.31%)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295.32(-13.65%)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431.98(-14.29%)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652.52(-15.26%)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35757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n_lanes=1(</a:t>
                      </a:r>
                      <a:r>
                        <a:rPr lang="zh-CN" alt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不使用稀疏</a:t>
                      </a:r>
                      <a:r>
                        <a:rPr lang="en-US" altLang="zh-CN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91473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872.36(-0.87%)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1328.12(-1.03%)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1820.44(-1.49%)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371.88(-2.14%)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548.26(-2.10)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819.48(-2.44%)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823440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n_lanes=2(</a:t>
                      </a:r>
                      <a:r>
                        <a:rPr lang="zh-CN" alt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不使用稀疏</a:t>
                      </a:r>
                      <a:r>
                        <a:rPr lang="en-US" altLang="zh-CN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380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4711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1098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967644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Hash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1280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04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5245-40CC-BBDD-22F8-9C881AC0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2941518F-1FFF-C389-0651-DE559F13DC71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43AE4405-7331-4E3E-26BD-09F593A31BA4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2F208A89-40B2-DFDC-031F-27CC7552BA1E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BECA73AC-1315-C745-F6FF-69CD1CAF5F2E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706ED69D-2241-4448-B3F8-75E3C9B63069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E34E10ED-002B-0D12-C29C-13F5F44F3A17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96C33B19-7E80-B353-806F-03F31BC8787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2DE51FBA-00BE-98C9-8340-5FD2A1433DB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28305081-185F-8656-D90B-E9E56E355CE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C7507D1F-B387-0D71-8B5F-4543C5A0281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D4D36C78-CFFD-EBEC-2187-FB933D84BBF0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6542686A-35BD-D106-A093-94A1668E9FF5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647DCAF2-55C4-6E5A-B2FC-72916B419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DC5B5482-000F-83C8-E9C8-8123281A2A8E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1C30C87-44BE-DD70-6287-75416C5C2A44}"/>
              </a:ext>
            </a:extLst>
          </p:cNvPr>
          <p:cNvSpPr txBox="1"/>
          <p:nvPr/>
        </p:nvSpPr>
        <p:spPr>
          <a:xfrm>
            <a:off x="-285537" y="757965"/>
            <a:ext cx="11522288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的情况，周期数基本是一个正态分布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会有侧信道的问题么？信息量肯定是不够反向还原出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的，但是会不会作为辅助手段？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698CF17-A0C4-96E8-4835-771B53340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" y="2343074"/>
            <a:ext cx="6406554" cy="38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977</Words>
  <Application>Microsoft Office PowerPoint</Application>
  <PresentationFormat>宽屏</PresentationFormat>
  <Paragraphs>118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华文细黑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正鹏 赵</dc:creator>
  <cp:lastModifiedBy>正鹏 赵</cp:lastModifiedBy>
  <cp:revision>3</cp:revision>
  <dcterms:created xsi:type="dcterms:W3CDTF">2025-11-24T05:55:13Z</dcterms:created>
  <dcterms:modified xsi:type="dcterms:W3CDTF">2025-11-25T06:45:49Z</dcterms:modified>
</cp:coreProperties>
</file>